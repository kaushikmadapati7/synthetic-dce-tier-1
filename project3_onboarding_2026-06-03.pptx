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0" r:id="rId21"/>
    <p:sldId id="271" r:id="rId22"/>
    <p:sldId id="272" r:id="rId23"/>
    <p:sldId id="273" r:id="rId24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200400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43000"/>
            <a:ext cx="3200400" cy="36576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1F3A5F"/>
                </a:solidFill>
                <a:latin typeface="Calibri"/>
              </a:defRPr>
            </a:pPr>
            <a:r>
              <a:t>Project 3 ·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Prostate DCE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FB3BF"/>
                </a:solidFill>
                <a:latin typeface="Calibri"/>
              </a:defRPr>
            </a:pPr>
            <a:r>
              <a:t>Static → Dynamic kinetics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Less gadolinium · more harmonization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FB3BF"/>
                </a:solidFill>
                <a:latin typeface="Calibri"/>
              </a:defRPr>
            </a:pPr>
            <a:r>
              <a:t>Presenter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Hanxue Gu  ·  2026-05-27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18872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Two-tier scope, one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920240"/>
            <a:ext cx="7132320" cy="169164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920240"/>
            <a:ext cx="109728" cy="169164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672084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Tier 1 · Single-phase synthetic DCE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Generate ONE representative DCE phase (early arterial / peak) from non-contrast T2 + DWI + ADC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Intern-friendly · fast · well-precedented (Radiology 2024, AAD-DCE, MPM-DCE)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Venue: Radiology / Lancet Digital Health / Insights into Imaging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703320"/>
            <a:ext cx="7132320" cy="169164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3703320"/>
            <a:ext cx="109728" cy="16916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794760"/>
            <a:ext cx="6720840" cy="1508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Tier 2 · Dynamic kinetic synthesis (the novelty)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Generate the full enhancement-vs-time curve — wash-in, peak, washout — per voxel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Inspired by CEKWorld (Kong et al., CVPR 2026) — LAL + LDL world-model framework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First prostate-specific dynamic-kinetic DCE synthesis · Venue: CVPR / MICCAI / Nature BME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synthesize DCE — three converging clinical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Gadolinium safety · contraindicated patients · multi-center harmonization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12801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835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Gadolinium safety / dose-reduction pressure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Concerns about nephrogenic systemic fibrosis (NSF) in renal-impaired patients + gadolinium brain deposition + cost-of-contrast pressure → strong field-wide push to reduce or eliminate gadolinium where clinically equivalent.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40"/>
            <a:ext cx="11247120" cy="12801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109728" cy="128016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10835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GFR-contraindicated patients lose DCE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Patients with eGFR &lt; 30 (or institutional cutoffs) routinely SKIP DCE. They get bpMRI only and lose the kinetic-curve information that drives PI-RADS DCE assessment. Synthesizing DCE for these patients restores the missing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12801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4F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09728" cy="128016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835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Multi-center DCE protocols are wildly heterogeneous</a:t>
            </a:r>
          </a:p>
          <a:p>
            <a:pPr>
              <a:spcAft>
                <a:spcPts val="2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Across centers: different vendors, different DCE phase counts (3 vs 6 vs 20+), different temporal resolution (1s vs 30s), different fat-suppression schemes. A canonical synthetic DCE can harmonize the multi-center training pool for any downstream prostate 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852160"/>
            <a:ext cx="12191695" cy="594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Single project, three impact pathways. Each motivates a different clinical evaluation endpoint.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Two tiers — what each one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Static phase → dynamic kinetic curve, same data pipeline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2286000"/>
            <a:ext cx="2194560" cy="201168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4FB3B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4FB3BF"/>
                </a:solidFill>
                <a:latin typeface="Calibri"/>
              </a:defRPr>
            </a:pPr>
            <a:r>
              <a:t>(non-contrast)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188720"/>
            <a:ext cx="8046720" cy="22860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1188720"/>
            <a:ext cx="109728" cy="2286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280160"/>
            <a:ext cx="7635240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TIER 1 OUTPUT · Single DCE phase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Pick one canonical phase (e.g., early arterial or peak enhancement)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3D LDM primary; 3D conditional GAN baseline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Loss: perceptual + SSIM + L1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Evaluation: PSNR / SSIM / FID + PI-RADS κ for synthetic-vs-real reads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611880"/>
            <a:ext cx="8046720" cy="27432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3611880"/>
            <a:ext cx="109728" cy="27432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3703320"/>
            <a:ext cx="7635240" cy="2560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TIER 2 OUTPUT · Full kinetic curve (per voxel)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Output: contrast-enhancement curve over time, per voxel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→ wash-in slope · peak intensity · washout slope · curve type (Type I / II / III)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CEKWorld-inspired (Kong et al., CVPR 2026): LAL + LDL framework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– LAL: non-contrast acts as patient-specific anatomical template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– LDL: latent-space interpolation enforces temporal smoothness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Evaluation: image quality + kinetic-curve RMSE + PI-RADS Type-I/II/III κ + PK params (Ktrans, Kep)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2286000"/>
            <a:ext cx="1005840" cy="457200"/>
          </a:xfrm>
          <a:prstGeom prst="line">
            <a:avLst/>
          </a:prstGeom>
          <a:ln w="25400">
            <a:solidFill>
              <a:srgbClr val="2E6F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3840480"/>
            <a:ext cx="1005840" cy="109728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Same data, same registration / preprocessing infrastructure. Tier 2 swaps the generator + adds kinetic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CEKWorld — the Tier 2 inspiration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Kong et al., CVPR 2026 · first "world model" framing for DCE kinetics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11247120" cy="12801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835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MRI Contrast Enhancement Kinetics World Model (Kong, He, Xia, Ge, Li — CVPR 2026)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arxiv 2602.19285 · code (promised): github.com/DD0922/MRI-Contrast-Enhancement-Kinetics-World-Model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Reframes DCE synthesis as a WORLD MODEL of contrast enhancement, not a frozen image-to-image translation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Introduces SpatioTemporal Consistency Learning (STCL) = Latent Alignment Learning (LAL) + Latent Difference Learning (LDL)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5486400" cy="31089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09728" cy="310896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074920" cy="2926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LAL · Latent Alignment Learning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Spatial law: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patient-level structures stay consistent during enhancement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Construct a patient-specific anatomical template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Force generated content to align with that template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Our prostate adaptation: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Non-contrast bpMRI (T2 + DWI + ADC) IS the patient template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Prevents content drift across synthesized phases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486400" cy="31089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109728" cy="310896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074920" cy="2926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LDL · Latent Difference Learning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Temporal law: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kinetics follow a smooth, consistent trend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Interpolate unobserved time intervals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Enforce smooth variation in latent space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Our prostate adaptation: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Bao cohorts have heterogeneous DCE sampling (3-30 phases)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LDL handles sparse temporal sampling natively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Plan: monitor code release weekly · reproduce on their dataset first · then port to Bao DCE + UCSF.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Literature landscape — Tier 1 vs Tier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Tier 1 is well-precedented; Tier 2 just opened up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E6F95"/>
                </a:solidFill>
                <a:latin typeface="Calibri"/>
              </a:defRPr>
            </a:pPr>
            <a:r>
              <a:t>Tier 1 · Static synthetic DCE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64592" cy="50292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002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Radiology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DOI 10.1148/radiol.240238 · bpMRI → CE-MRI with reader 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21408"/>
            <a:ext cx="164592" cy="50292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6712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AAD-DCE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167128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arxiv 2502.02555 · GAN, T2+ADC+T1pre → early &amp; late DCE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88336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88336"/>
            <a:ext cx="164592" cy="50292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734056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MPM-DCE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734056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IEEE 2025 · multi-stage progressive 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4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55264"/>
            <a:ext cx="164592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30098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CAVM (brain)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300984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arxiv 2406.16074 · autoregressive vision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22192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22192"/>
            <a:ext cx="164592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867912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DD-Res U-Net (brain)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867912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PMC10691635 · 3D dense-dilated residual U-Net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389120"/>
            <a:ext cx="164592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43484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Reduced-gadolinium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443484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Gong et al. + follow-ups · dose-reduction paradigm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43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76F51"/>
                </a:solidFill>
                <a:latin typeface="Calibri"/>
              </a:defRPr>
            </a:pPr>
            <a:r>
              <a:t>Tier 2 · Dynamic kinetic synthesis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554480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554480"/>
            <a:ext cx="164592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2" y="160020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CEKWorld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160020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Kong CVPR 2026 · world-model, LAL+LDL · OUR BLUEPRINT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121408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121408"/>
            <a:ext cx="164592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216712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Osuala 2024 (breast)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2167128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arxiv 2403.13890 · time-conditioned LDM · BREAST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88336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8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688336"/>
            <a:ext cx="164592" cy="502920"/>
          </a:xfrm>
          <a:prstGeom prst="rect">
            <a:avLst/>
          </a:prstGeom>
          <a:solidFill>
            <a:srgbClr val="8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2" y="2734056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Prostate MRDI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2734056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MDPI Cancers 2024 · accelerated dispersion imaging, PK params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255264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8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3255264"/>
            <a:ext cx="164592" cy="502920"/>
          </a:xfrm>
          <a:prstGeom prst="rect">
            <a:avLst/>
          </a:prstGeom>
          <a:solidFill>
            <a:srgbClr val="8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56832" y="3300984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Aponte PK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3300984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Med Phys 2026 · novel PK quantification prostate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822192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8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3822192"/>
            <a:ext cx="164592" cy="502920"/>
          </a:xfrm>
          <a:prstGeom prst="rect">
            <a:avLst/>
          </a:prstGeom>
          <a:solidFill>
            <a:srgbClr val="8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386791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Unpaired DL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3867912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arxiv 2306.04339 · PK estimation without AIF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389120"/>
            <a:ext cx="5486400" cy="502920"/>
          </a:xfrm>
          <a:prstGeom prst="rect">
            <a:avLst/>
          </a:prstGeom>
          <a:solidFill>
            <a:srgbClr val="F0F7F8"/>
          </a:solidFill>
          <a:ln w="9525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0" y="4389120"/>
            <a:ext cx="164592" cy="50292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443484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F3A5F"/>
                </a:solidFill>
                <a:latin typeface="Calibri"/>
              </a:defRPr>
            </a:pPr>
            <a:r>
              <a:t>(prostate kinetic) → OPEN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43484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No prostate-specific dynamic-kinetic synthesis paper found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1 = compete on cohort scale + clinical eval. Tier 2 = first prostate-specific dynamic-kinetic DCE synthesis.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Data resource — internal + external +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Multi-vendor by design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Bao DCE multicenter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0F7F8"/>
                </a:solidFill>
                <a:latin typeface="Calibri"/>
              </a:defRPr>
            </a:pPr>
            <a:r>
              <a:t>CSH + SZUH + ZJGH + KSZYH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Primary training + internal multi-vendor test · paired multi-phase DCE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394460"/>
            <a:ext cx="1280160" cy="3657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0" y="143560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UCSF prostate DCE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0F7F8"/>
                </a:solidFill>
                <a:latin typeface="Calibri"/>
              </a:defRPr>
            </a:pPr>
            <a:r>
              <a:t>~200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10312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4F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24028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External cross-country test · golden ground truth · radiologist reads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2354580"/>
            <a:ext cx="1280160" cy="3657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23957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2743200" cy="868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SZUH prospective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0F7F8"/>
                </a:solidFill>
                <a:latin typeface="Calibri"/>
              </a:defRPr>
            </a:pPr>
            <a:r>
              <a:t>~200 cases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06324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20040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Prospective deployment validation site · Tier 1 first, then Tier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3314700"/>
            <a:ext cx="1280160" cy="3657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335584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2743200" cy="86868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PROSTATEx (TCIA public)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8056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0F7F8"/>
                </a:solidFill>
                <a:latin typeface="Calibri"/>
              </a:defRPr>
            </a:pPr>
            <a:r>
              <a:t>346 patients, 309k images, 15.1 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02336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416052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T2W + PD-W + DCE + DWI · DCE 3.5s temporal resolution · Radboud (Netherlands) · widely used benchmark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24160" y="4274820"/>
            <a:ext cx="1280160" cy="365760"/>
          </a:xfrm>
          <a:prstGeom prst="round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431596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2743200" cy="86868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QIN-PROSTATE (TCIA public)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4406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0F7F8"/>
                </a:solidFill>
                <a:latin typeface="Calibri"/>
              </a:defRPr>
            </a:pPr>
            <a:r>
              <a:t>Multi-parametric incl. DCE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8348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120640"/>
            <a:ext cx="6949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DCE with ~5 baseline scans before contrast · plus QIN-PROSTATE-Repeatability for test-retest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5234940"/>
            <a:ext cx="1280160" cy="365760"/>
          </a:xfrm>
          <a:prstGeom prst="round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527608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B6B6B"/>
                </a:solidFill>
                <a:latin typeface="Calibri"/>
              </a:defRPr>
            </a:pPr>
            <a:r>
              <a:t>Tier 2 caveat: AUDIT per-cohort temporal sampling density first — Bao centers vary from 3 to 30+ DCE phases.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Tier 1 in detail — single-phase synthetic DCE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Lower risk · intern-friendly · clinical-AI venue target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237744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74920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Method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Primary: 3D Latent Diffusion Model (LDM)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conditioned on T2 + DWI + ADC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Baselines: 3D conditional GAN (Pix2Pix-style)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· re-implemented AAD-DCE · DD-Res U-Net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Loss: perceptual + SSIM + L1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Output: single fat-suppressed DCE phase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(canonical: early arterial OR peak enhancement)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37744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4F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109728" cy="237744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74920" cy="2194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Evaluation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Image quality: PSNR / SSIM / FID per phase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Multi-vendor generalization: train on Bao, test on UCSF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Public-benchmark: PROSTATEx / QIN-Prostate held-out test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Clinical primary endpoint: PI-RADS κ for synthetic vs real DCE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Blinded reader study: acceptability + lesion-detection agreement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11247120" cy="146304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09728" cy="146304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1083564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What this Tier 1 contributes beyond existing literature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Multi-vendor + multi-cohort at Bao+UCSF+SZUH+public scale (Radiology 2024 was single-center)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Diffusion-model primary (vs GAN-dominant prior art); apples-to-apples GAN baseline included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PI-RADS κ as primary endpoint (Radiology 2024 standard; AAD-DCE / MPM-DCE used image-quality metrics only)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44068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FB3BF"/>
                </a:solidFill>
                <a:latin typeface="Calibri"/>
              </a:defRPr>
            </a:pPr>
            <a:r>
              <a:t>Tier 1 first — gates Tier 2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Estimated: 3-6 months · intern-leadable · ~1 GPU-month CHPC · preprint by end of Tier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Tier 2 in detail — dynamic kinetic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Higher novelty · methods-paper venue target · gates on Tier 1 success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25603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74920" cy="2377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Method (CEKWorld-inspired)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Primary: CEKWorld-style world model adapted to prostate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LAL: non-contrast (T2/DWI/ADC) as anatomical template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LDL: latent-space interpolation + smooth-variation regularizer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Baselines: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Osuala-style time-conditioned LDM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– Per-phase Tier-1 model run independently per timepoint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(proves the value of joint kinetic modeling)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Output: per-voxel enhancement-vs-time curve (or N synth phases w/ continuity)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8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109728" cy="2560320"/>
          </a:xfrm>
          <a:prstGeom prst="rect">
            <a:avLst/>
          </a:prstGeom>
          <a:solidFill>
            <a:srgbClr val="8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74920" cy="2377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Evaluation (above Tier 1's metrics)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Temporal consistency: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per-voxel kinetic-curve RMSE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wash-in / washout AUC error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phase-transition smoothness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Fréchet radiomics distance (Osuala 2024 metric)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Clinical primary endpoint: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PI-RADS Type-I/II/III curve-type κ vs real DCE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PK-parameter validity: Ktrans / Kep / Vp from synth vs real curves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11247120" cy="155448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09728" cy="15544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108356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Action items early in Tier 2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WATCH github.com/DD0922/... weekly for CEKWorld code release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Reproduce CEKWorld on its original dataset BEFORE porting to prostate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AUDIT temporal sampling density per Bao center — LDL handles sparse, but extreme heterogeneity (3 vs 30 phases) may need per-cohort sub-design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Identify radiologist co-author for Type-I/II/III curve-type read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62356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FB3BF"/>
                </a:solidFill>
                <a:latin typeface="Calibri"/>
              </a:defRPr>
            </a:pPr>
            <a:r>
              <a:t>Tier 2 = methods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Estimated: 6-12 months on TOP of Tier 1 · ~3-5 GPU-months · CVPR / MICCAI / Nature BME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Clinical anchor — PI-RADS DCE curve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Tier 2 downstream κ endpoint = Type-I / II / III classification accuracy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3657600" cy="36576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246120" cy="3474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Type 1 · Progressive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Continuous wash-in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Low suspicion for csPCa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Most benign tissue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Per voxel curve: monotonic increase, no plateau, no washout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657600" cy="36576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4F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109728" cy="365760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80160"/>
            <a:ext cx="3246120" cy="3474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Type 2 · Plateau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Wash-in followed by plateau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Intermediate suspicion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Mixed tissue / inflammation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Per voxel curve: rises then flattens; no clear washout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657600" cy="36576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109728" cy="36576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3246120" cy="3474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Type 3 · Wash-in + washout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Rapid wash-in then washout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HIGHEST suspicion for csPCa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Hypervascular tumor signature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Per voxel curve: sharp rise + peak + decline → kinetic signature for malignancy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09728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83564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Why this drives our Tier 2 evaluation design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PI-RADS v2.1 formally encodes Type-I/II/III in the DCE assessment — synthesizing curves that recover the radiologist's curve-type call is THE clinical primary endpoint.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Sources: Vos Radiology 2014 (curve-type analysis) · Becker Radiology 2022 (DCE+DWI contribution to PI-RADS for csPCa)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Tier sequencing — Tier 1 gates Tier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Hard rule, not a soft preference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3657600" cy="246888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24688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3246120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1. Validates infrastructure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Registration · preprocessing · cohort harmonization · radiologist read pipeline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All of this gets stress-tested in Tier 1 — Tier 2 reuses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657600" cy="246888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4FB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109728" cy="246888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80160"/>
            <a:ext cx="3246120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2. Establishes clinical eval harness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PI-RADS κ readout pipeline takes weeks to set up cleanly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Build it once for Tier 1; Tier 2 extends to curve-type 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657600" cy="246888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188720"/>
            <a:ext cx="109728" cy="246888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80160"/>
            <a:ext cx="3246120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3. De-risks the methodology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If Tier 1 PI-RADS κ is poor (&lt; 0.4 say), Tier 2's joint kinetic claim is implausible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If Tier 1 looks credible, Tier 2 has firm clinical footing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1247120" cy="164592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09728" cy="1645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835640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GATING RULE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GATE: do NOT launch Tier 2 until Tier 1 PI-RADS κ readout meets a pre-specified threshold (target: κ ≥ 0.6 on UCSF external test)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If Tier 1 falls short: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→ debug Tier 1 (likely data / registration issue) before tackling kinetics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→ consider scope reduction (e.g., synthesize only PZ, only HBV phase, etc.)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If Tier 1 lands strong: Tier 2 launches with confidence + reused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57784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Don't start Tier 2 prematurely. The CEKWorld framework is appealing — but a strong Tier 1 result is what makes Tier 2 publishable.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Coordination with sister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Synthetic DCE feeds Projects 5, 7, 11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3291840"/>
            <a:ext cx="219456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34747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93192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FB3BF"/>
                </a:solidFill>
                <a:latin typeface="Calibri"/>
              </a:defRPr>
            </a:pPr>
            <a:r>
              <a:t>Synthetic DCE</a:t>
            </a:r>
            <a:br/>
            <a:r>
              <a:t>(Static + Dynamic)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2743200" cy="22860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529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188720"/>
            <a:ext cx="109728" cy="2286000"/>
          </a:xfrm>
          <a:prstGeom prst="rect">
            <a:avLst/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280160"/>
            <a:ext cx="2331720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Project 5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csPCa pipeline (seg / binary / ISUP)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Tier 2 synthetic kinetics enables PI-RADS-grade DCE features on cohorts that didn't acquire full DCE — unlocks Project 5 on partial-DCE patients.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2331720"/>
            <a:ext cx="2011680" cy="1691640.0"/>
          </a:xfrm>
          <a:prstGeom prst="line">
            <a:avLst/>
          </a:prstGeom>
          <a:ln w="19050">
            <a:solidFill>
              <a:srgbClr val="529E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937760"/>
            <a:ext cx="2743200" cy="22860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8E5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937760"/>
            <a:ext cx="109728" cy="2286000"/>
          </a:xfrm>
          <a:prstGeom prst="rect">
            <a:avLst/>
          </a:prstGeom>
          <a:solidFill>
            <a:srgbClr val="8E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331720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Project 7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Harmonization methods (PhyCHarm-style)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Tier 1 synthetic DCE is one route to multi-center DCE harmonization (synthesize all DCE in a canonical style). Project 7 evaluates synth-as-harm vs other methods.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474720" y="4023360.0"/>
            <a:ext cx="2011680" cy="2057400.0"/>
          </a:xfrm>
          <a:prstGeom prst="line">
            <a:avLst/>
          </a:prstGeom>
          <a:ln w="19050">
            <a:solidFill>
              <a:srgbClr val="8E5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3108960"/>
            <a:ext cx="2743200" cy="22860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3108960"/>
            <a:ext cx="109728" cy="22860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200400"/>
            <a:ext cx="2331720" cy="2103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Project 11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Preprocessing × Harmonization benchmark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Tier 1 model = one row in Project 11's matrix: 'synthesized DCE vs real DCE → csPCa task accuracy'. The benchmark contextualizes our clinical value.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7680960" y="4023360.0"/>
            <a:ext cx="1005840" cy="228600.0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Why we need a radiologist collaborator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Synthetic DCE is a clinical AI tool, not a pure ML project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88720"/>
            <a:ext cx="11247120" cy="9144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09728" cy="9144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8356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PI-RADS κ reads — Tier 1 + Tier 2 endpoints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Both tiers require radiologist reads on synthetic vs real DCE — for csPCa lesion-level reads (Tier 1) and curve-type Type-I/II/III classification (Tier 2). Without radiologist judgment, no clinical primary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76272"/>
            <a:ext cx="11247120" cy="9144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76272"/>
            <a:ext cx="109728" cy="9144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67712"/>
            <a:ext cx="108356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Failure-mode discrimination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Synthetic DCE can fail silently — hallucinated lesions, missed real lesions, false washout patterns. Only radiologist review catches what numeric metrics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63824"/>
            <a:ext cx="11247120" cy="9144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63824"/>
            <a:ext cx="109728" cy="9144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55264"/>
            <a:ext cx="108356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PI-RADS curve-type labels (Tier 2)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Type-I / II / III classification on each real lesion is the gold standard for evaluating Tier 2's kinetic-curve outputs — typically not automated, requires radiologist.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51376"/>
            <a:ext cx="11247120" cy="9144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51376"/>
            <a:ext cx="109728" cy="9144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42816"/>
            <a:ext cx="108356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Multi-vendor protocol interpretation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Bao centers have 4+ vendor / protocol combinations. Vendor-specific DCE artifacts need to be named (motion · saturation · timing offset) by someone fluent in DCE acquisition.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38928"/>
            <a:ext cx="11247120" cy="914400"/>
          </a:xfrm>
          <a:prstGeom prst="round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38928"/>
            <a:ext cx="109728" cy="9144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30368"/>
            <a:ext cx="1083564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5F"/>
                </a:solidFill>
                <a:latin typeface="Calibri"/>
              </a:defRPr>
            </a:pPr>
            <a:r>
              <a:t>Eventual SZUH prospective deployment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If both tiers succeed, the SZUH prospective validation is the natural next step. Radiologist co-author bridges the methods → clinical translation gap.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Main contribution per tier (beyond existing 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4FB3BF"/>
                </a:solidFill>
                <a:latin typeface="Calibri"/>
              </a:defRPr>
            </a:pPr>
            <a:r>
              <a:t>Honest positioning · scope discipline</a:t>
            </a:r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5486400" cy="73152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1615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TIER 1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0F7F8"/>
                </a:solidFill>
                <a:latin typeface="Calibri"/>
              </a:defRPr>
            </a:pPr>
            <a:r>
              <a:t>vs Radiology 2024 / AAD-DCE / MPM-DCE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486400" cy="3383280"/>
          </a:xfrm>
          <a:prstGeom prst="rect">
            <a:avLst/>
          </a:prstGeom>
          <a:solidFill>
            <a:srgbClr val="F0F7F8"/>
          </a:solidFill>
          <a:ln w="12700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212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Multi-vendor + multi-cohort scale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Bao 4-center + UCSF + SZUH + public TCIA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Radiology 2024 was single-center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Diffusion-model primary (vs GAN-dominant prior art)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apples-to-apples GAN baseline included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PI-RADS κ as primary endpoint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AAD-DCE / MPM-DCE used image-quality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00" cy="7315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1615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TIER 2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2704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0F7F8"/>
                </a:solidFill>
                <a:latin typeface="Calibri"/>
              </a:defRPr>
            </a:pPr>
            <a:r>
              <a:t>vs CEKWorld 2026 / Osuala 2024 (breast)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74520"/>
            <a:ext cx="5486400" cy="3383280"/>
          </a:xfrm>
          <a:prstGeom prst="rect">
            <a:avLst/>
          </a:prstGeom>
          <a:solidFill>
            <a:srgbClr val="F0F7F8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212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First prostate-specific dynamic-kinetic DCE synthesis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Osuala 2024 covered BREAST only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CEKWorld covered a different body site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PI-RADS Type-I/II/III curve-type κ as clinical endpoint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no prior synthesis paper evaluated curve-type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PK-parameter validity (Ktrans / Kep / Vp) from synth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bridges synthesis paper + PK-quantification literature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Bao multi-vendor temporal-sampling robustness study</a:t>
            </a:r>
          </a:p>
          <a:p>
            <a:pPr>
              <a:spcAft>
                <a:spcPts val="2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  — LDL's sparse-sampling claim tested at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486400"/>
            <a:ext cx="12191695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55955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FB3BF"/>
                </a:solidFill>
                <a:latin typeface="Calibri"/>
              </a:defRPr>
            </a:pPr>
            <a:r>
              <a:t>What we are NOT claiming (scope discipline)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 Tier 1 NOT a methods breakthrough — incremental over Radiology 2024 / AAD-DCE / MPM-DCE; venue accordingly (clinical-AI)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 Tier 2 NOT replacing CEKWorld — adapting it to prostate; co-cite generously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 NEITHER tier is a clinical-deployment paper — both are research tools until SaMD pathway is 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6B6B"/>
                </a:solidFill>
                <a:latin typeface="Calibri"/>
              </a:defRPr>
            </a:pPr>
            <a:r>
              <a:t>Hanxue Gu · Project 3 · Synthetic DCE Generation · Static + Dynamic Kinetics · 2026-05-27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B6B6B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09728" cy="6858000"/>
          </a:xfrm>
          <a:prstGeom prst="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sf_radiolog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20040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FB3BF"/>
                </a:solidFill>
                <a:latin typeface="Calibri"/>
              </a:defRPr>
            </a:pPr>
            <a:r>
              <a:t>Let's start with Tier 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657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0F7F8"/>
                </a:solidFill>
                <a:latin typeface="Calibri"/>
              </a:defRPr>
            </a:pPr>
            <a:r>
              <a:t>Project 3:</a:t>
            </a:r>
            <a:br/>
            <a:r>
              <a:t>from static DCE phase</a:t>
            </a:r>
            <a:br/>
            <a:r>
              <a:t>to dynamic kinetics —</a:t>
            </a:r>
            <a:br/>
            <a:r>
              <a:t>two papers, one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FB3BF"/>
                </a:solidFill>
                <a:latin typeface="Calibri"/>
              </a:defRPr>
            </a:pPr>
            <a: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Hanxue Gu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FB3BF"/>
                </a:solidFill>
                <a:latin typeface="Calibri"/>
              </a:defRPr>
            </a:pPr>
            <a:r>
              <a:t>2026-05-27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731520"/>
            <a:ext cx="7132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F3A5F"/>
                </a:solidFill>
                <a:latin typeface="Calibri"/>
              </a:defRPr>
            </a:pPr>
            <a:r>
              <a:t>Concrete next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554480"/>
            <a:ext cx="1463040" cy="77724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This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Confirm interest. Identify a recurring meeting slot.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68880"/>
            <a:ext cx="1463040" cy="77724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 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060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Audit per-cohort DCE temporal sampling. Decide canonical Tier 1 phase (early arterial vs peak).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83280"/>
            <a:ext cx="1463040" cy="77724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5204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Tier 1 registration + preprocessing pipeline locked. First synthetic-DCE pilot on Bao subset.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297680"/>
            <a:ext cx="1463040" cy="77724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Month 2-4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Tier 1 full training + multi-vendor evaluation. PI-RADS κ readout.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212080"/>
            <a:ext cx="1463040" cy="777240"/>
          </a:xfrm>
          <a:prstGeom prst="roundRect">
            <a:avLst/>
          </a:prstGeom>
          <a:solidFill>
            <a:srgbClr val="4FB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Month 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34924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Tier 1 manuscript. GATE on κ → launch Tier 2 if Tier 1 lands.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217920"/>
            <a:ext cx="7132320" cy="5029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6263640"/>
            <a:ext cx="7132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Open discussion · cohort access · Tier 1 scope · authorship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Bao DCE on CHPC — six Chinese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Calibri"/>
              </a:rPr>
              <a:t>917 subjects · 21 GB bronze · /mnt/fac/CX000018_DS2/yanglab/Prostate_data_all/Bao_DCE/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changshu/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CSH (Changshu) · 282 subj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801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3.7 GB · single-phase DCE · paired (T2, ADC, DCE, DWI) per subject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389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fuyiyuan/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SZUH (Shenzhen) · 303 subj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0312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24028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2.5 GB · single-phase DCE · paired (T2, ADC, DCE, DWI) per subject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23500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jiulong/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SKH (Jiulong) · 102 subj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06324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20040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340 MB · single-phase DCE · paired (T2, ADC, DCE, DWI) per subject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3101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taizhou/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Taizhou · 29 subj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02336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1605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178 MB · single-phase DCE · small cohort, candidate held-out 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24160" y="427024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zhangjiagang/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ZJGH · 34 subj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98348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512064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259 MB · single-phase DCE · small cohort, candidate held-out 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52303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zhongyiyuan/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TCM Hospital · 167 subj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9436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60350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Calibri"/>
              </a:rPr>
              <a:t>14 GB · MULTI-PHASE (~4 DCE phases per subject) · GE LAVA-Flex protocol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The only internal cohort with multi-phase DCE — load-bearing for Tier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60" y="61904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1+2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Hanxue Gu · Project 3 · Synthetic DCE Generation · Static + Dynamic Kinetics ·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Single-phase vs multi-phase DCE — by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Calibri"/>
              </a:rPr>
              <a:t>5 of 6 hospitals are single-phase only · only zhongyiyuan has multi-phase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Bao multicenter (5 hospitals)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changshu + fuyiyuan + jiulong + taizhou + zhangjiagang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Each subject has ONE DCE file: T2WI.nii.gz · ADC.nii.gz · DCE.nii.gz · DWI.nii.gz</a:t>
            </a:r>
          </a:p>
          <a:p>
            <a:pPr algn="l"/>
            <a:r>
              <a:rPr sz="1100" b="1">
                <a:solidFill>
                  <a:srgbClr val="2E6F95"/>
                </a:solidFill>
                <a:latin typeface="Calibri"/>
              </a:rPr>
              <a:t>→  750 subjects across 5 centers · single-phase synthesis training pool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389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750 SUBJ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zhongyiyuan (TCM Hospital)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GE LAVA-Flex protocol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0312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Each subject has ~5 DCE-related files: WATER baseline + Ph1Dyn + Ph2Dyn + Ph3Dyn + Ph4Dyn</a:t>
            </a:r>
          </a:p>
          <a:p>
            <a:pPr algn="l"/>
            <a:r>
              <a:rPr sz="1100" b="1">
                <a:solidFill>
                  <a:srgbClr val="E76F51"/>
                </a:solidFill>
                <a:latin typeface="Calibri"/>
              </a:rPr>
              <a:t>→  167 subjects × ~4 phases · the only internal kinetic-curve training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23500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167 SUBJ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PROSTATEx (TCIA public)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Radboud University Medical Centre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06324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346 patients · ~3.5s temporal resolution · 4–8 dynamic phases per subject</a:t>
            </a:r>
          </a:p>
          <a:p>
            <a:pPr algn="l"/>
            <a:r>
              <a:rPr sz="1100" b="1">
                <a:solidFill>
                  <a:srgbClr val="529E66"/>
                </a:solidFill>
                <a:latin typeface="Calibri"/>
              </a:rPr>
              <a:t>→  Augment Tier 2 training when Bao zhongyiyuan alone is too small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3101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52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346 SUBJ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11247120" cy="2011680"/>
          </a:xfrm>
          <a:prstGeom prst="rect">
            <a:avLst/>
          </a:prstGeom>
          <a:solidFill>
            <a:srgbClr val="FDF0E6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B03A2E"/>
                </a:solidFill>
                <a:latin typeface="Calibri"/>
              </a:rPr>
              <a:t>⚠   Implications for project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881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TIER 1 (static synthetic DCE):  use ALL 6 hospitals → 917 subj internal + ~200 UCSF = ~1,100 paired tuples.   Adequate training budget.</a:t>
            </a:r>
          </a:p>
          <a:p>
            <a:pPr algn="l"/>
            <a:r>
              <a:rPr sz="1100" b="1">
                <a:solidFill>
                  <a:srgbClr val="B03A2E"/>
                </a:solidFill>
                <a:latin typeface="Calibri"/>
              </a:rPr>
              <a:t>•  TIER 2 (dynamic kinetics):  ONLY zhongyiyuan (167) is multi-phase internally.   Must augment with PROSTATEx (346) for adequate scale.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This split drives where you can train each tier — and dictates the held-out test selection (small Bao centers → Tier 1 test).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Hanxue Gu · Project 3 · Synthetic DCE Generation · Static + Dynamic Kinetics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Example exam structure — file naming per hospital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Calibri"/>
              </a:rPr>
              <a:t>Two dataloaders required: simple canonical (5 hospitals) + descriptor-based (zhongyiyuan)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Bao multicenter exam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5 hospitals · simple canonical naming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95"/>
                </a:solidFill>
                <a:latin typeface="Calibri"/>
              </a:rPr>
              <a:t>📁 changshu/exam_00012/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alibri"/>
              </a:rPr>
              <a:t>    T2WI.nii.gz · ADC.nii.gz · DCE.nii.gz · DWI.nii.gz                   (4 files · ~3–8 MB)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389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SIMPLE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zhongyiyuan exam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GE LAVA-Flex · descriptor-based naming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0312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Calibri"/>
              </a:rPr>
              <a:t>📁 zhongyiyuan/exam_00045/</a:t>
            </a:r>
          </a:p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    00_WATER Dyn Ax LAVA-Flex+C.nii.gz · Ph1Dyn...nii.gz · Ph2Dyn...nii.gz · Ph3Dyn...nii.gz · Ph4Dyn...nii.gz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23500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DESCRIPTOR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zhongyiyuan auxiliary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non-contrast + segmentation mask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06324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    08_Ax T2 frFSE.nii.gz · 13_Ax DWI B10001500.nii.gz · 15_ADC (10^-6 mms)&lt;datetime&gt;.nii.gz · &lt;subject&gt;mask.nii.gz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    Total ~9 NIfTI files per subject · ~80 MB per subject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3101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11247120" cy="2011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Practical preprocessing tips (Week-1 onboarding)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881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Bao multicenter is partially registered already (Silver layer:  Image_volumes/)  —  check before re-registering.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Prostate masks exist for many subjects (Silver:  Prostate_masks/)  —  use as ROI for loss weighting / cropping.</a:t>
            </a:r>
          </a:p>
          <a:p>
            <a:pPr algn="l"/>
            <a:r>
              <a:rPr sz="1100" b="1">
                <a:solidFill>
                  <a:srgbClr val="2E6F95"/>
                </a:solidFill>
                <a:latin typeface="Calibri"/>
              </a:rPr>
              <a:t>•  Two dataloaders required:  one canonical-named (5 Bao hospitals), one descriptor-glob (zhongyiyuan).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Smoke test on 3 subjects before launching full preprocessing on 917 subjects.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Hanxue Gu · Project 3 · Synthetic DCE Generation · Static + Dynamic Kinetics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Data-driven Tier 1 vs Tier 2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  <a:latin typeface="Calibri"/>
              </a:rPr>
              <a:t>What the per-hospital phase split tells us about training-set sizing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6888"/>
            <a:ext cx="2468880" cy="4206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14300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TIER 1 training pool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Static single-phase synthesis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917 Bao subj  +  ~200 UCSF subj  =  ~1,100 paired (T2/DWI/ADC, DCE) tuples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Adequate for a 3D LDM or conditional GAN.   Held-out test:  zhangjiagang + taizhou + UCSF subset.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389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~1,100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TIER 2 training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Dynamic kinetic synthesis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10312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1945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Calibri"/>
              </a:rPr>
              <a:t>167 zhongyiyuan subj × ~4 phases  +  346 PROSTATEx subj × 4–8 phases  =  ~500 multi-phase subj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Tight but workable for CEKWorld adaptation.   Held-out: QIN-PROSTATE-Repeatability.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23500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~500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2743200" cy="86868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Week 1–2 pending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  <a:latin typeface="Calibri"/>
              </a:rPr>
              <a:t>Before training-pool numbers are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3063240"/>
            <a:ext cx="7132320" cy="868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Per-cohort temporal-sampling-density audit · vendor distribution table · UCSF DCE phase-count audit</a:t>
            </a:r>
          </a:p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 Deliverable end of Week 2:  one-page audit summary table (per-cohort × per-modality phase counts).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0" y="331012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11247120" cy="2011680"/>
          </a:xfrm>
          <a:prstGeom prst="rect">
            <a:avLst/>
          </a:prstGeom>
          <a:solidFill>
            <a:srgbClr val="F0F7F8"/>
          </a:solidFill>
          <a:ln w="9525">
            <a:solidFill>
              <a:srgbClr val="2E6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Why this matters for project sequencing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881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Tier 1 has ample training data; ship a clean preprint within the intern tenure.</a:t>
            </a:r>
          </a:p>
          <a:p>
            <a:pPr algn="l"/>
            <a:r>
              <a:rPr sz="1100" b="1">
                <a:solidFill>
                  <a:srgbClr val="E76F51"/>
                </a:solidFill>
                <a:latin typeface="Calibri"/>
              </a:rPr>
              <a:t>•  Tier 2 multi-phase data is scarce.   Adapting CEKWorld with only ~500 multi-phase subjects is the BOUND on what's possible.</a:t>
            </a:r>
          </a:p>
          <a:p>
            <a:pPr algn="l"/>
            <a:r>
              <a:rPr sz="400" b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•  This is also why Tier 1 must succeed before Tier 2 begins:  we cannot waste scarce zhongyiyuan + PROSTATEx data on premature Tier 2 runs.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Hanxue Gu · Project 3 · Synthetic DCE Generation · Static + Dynamic Kinetics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